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6858000" cx="9144000"/>
  <p:notesSz cx="6858000" cy="9144000"/>
  <p:embeddedFontLst>
    <p:embeddedFont>
      <p:font typeface="Montserrat SemiBold"/>
      <p:regular r:id="rId18"/>
      <p:bold r:id="rId19"/>
      <p:italic r:id="rId20"/>
      <p:boldItalic r:id="rId21"/>
    </p:embeddedFont>
    <p:embeddedFont>
      <p:font typeface="Montserrat"/>
      <p:regular r:id="rId22"/>
      <p:bold r:id="rId23"/>
      <p:italic r:id="rId24"/>
      <p:boldItalic r:id="rId25"/>
    </p:embeddedFont>
    <p:embeddedFont>
      <p:font typeface="Montserrat Medium"/>
      <p:regular r:id="rId26"/>
      <p:bold r:id="rId27"/>
      <p:italic r:id="rId28"/>
      <p:boldItalic r:id="rId29"/>
    </p:embeddedFont>
    <p:embeddedFont>
      <p:font typeface="Candara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3E63602-5F9C-444A-9A14-2E7EC7E8E457}">
  <a:tblStyle styleId="{63E63602-5F9C-444A-9A14-2E7EC7E8E45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SemiBold-italic.fntdata"/><Relationship Id="rId22" Type="http://schemas.openxmlformats.org/officeDocument/2006/relationships/font" Target="fonts/Montserrat-regular.fntdata"/><Relationship Id="rId21" Type="http://schemas.openxmlformats.org/officeDocument/2006/relationships/font" Target="fonts/MontserratSemiBold-boldItalic.fntdata"/><Relationship Id="rId24" Type="http://schemas.openxmlformats.org/officeDocument/2006/relationships/font" Target="fonts/Montserrat-italic.fntdata"/><Relationship Id="rId23" Type="http://schemas.openxmlformats.org/officeDocument/2006/relationships/font" Target="fonts/Montserrat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MontserratMedium-regular.fntdata"/><Relationship Id="rId25" Type="http://schemas.openxmlformats.org/officeDocument/2006/relationships/font" Target="fonts/Montserrat-boldItalic.fntdata"/><Relationship Id="rId28" Type="http://schemas.openxmlformats.org/officeDocument/2006/relationships/font" Target="fonts/MontserratMedium-italic.fntdata"/><Relationship Id="rId27" Type="http://schemas.openxmlformats.org/officeDocument/2006/relationships/font" Target="fonts/MontserratMedium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MontserratMedium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Candara-bold.fntdata"/><Relationship Id="rId30" Type="http://schemas.openxmlformats.org/officeDocument/2006/relationships/font" Target="fonts/Candara-regular.fntdata"/><Relationship Id="rId11" Type="http://schemas.openxmlformats.org/officeDocument/2006/relationships/slide" Target="slides/slide5.xml"/><Relationship Id="rId33" Type="http://schemas.openxmlformats.org/officeDocument/2006/relationships/font" Target="fonts/Candara-boldItalic.fntdata"/><Relationship Id="rId10" Type="http://schemas.openxmlformats.org/officeDocument/2006/relationships/slide" Target="slides/slide4.xml"/><Relationship Id="rId32" Type="http://schemas.openxmlformats.org/officeDocument/2006/relationships/font" Target="fonts/Candara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MontserratSemiBold-bold.fntdata"/><Relationship Id="rId18" Type="http://schemas.openxmlformats.org/officeDocument/2006/relationships/font" Target="fonts/MontserratSemiBol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" name="Google Shape;38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2c15b031fa9_0_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" name="Google Shape;47;g2c15b031fa9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g2c15b031fa9_0_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c15b031fa9_0_7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2c15b031fa9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g2c15b031fa9_0_7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c15c948c7f_5_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c15c948c7f_5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g2c15c948c7f_5_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c165a19481_18_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2c165a19481_18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g2c165a19481_18_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6b414df57e_4_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26b414df57e_4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g26b414df57e_4_1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c15c948c7f_5_2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c15c948c7f_5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g2c15c948c7f_5_21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c165a19481_14_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2c165a19481_14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g2c165a19481_14_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26b414df57e_2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26b414df57e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g26b414df57e_2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6b414df57e_4_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26b414df57e_4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g26b414df57e_4_2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c15c948c7f_4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2c15c948c7f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g2c15c948c7f_4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.gif" id="25" name="Google Shape;25;p2"/>
          <p:cNvPicPr preferRelativeResize="0"/>
          <p:nvPr/>
        </p:nvPicPr>
        <p:blipFill rotWithShape="1">
          <a:blip r:embed="rId2">
            <a:alphaModFix/>
          </a:blip>
          <a:srcRect b="10713" l="0" r="0" t="0"/>
          <a:stretch/>
        </p:blipFill>
        <p:spPr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" name="Google Shape;26;p2"/>
          <p:cNvGrpSpPr/>
          <p:nvPr/>
        </p:nvGrpSpPr>
        <p:grpSpPr>
          <a:xfrm>
            <a:off x="6146800" y="0"/>
            <a:ext cx="2997200" cy="876300"/>
            <a:chOff x="6096000" y="3924300"/>
            <a:chExt cx="2997200" cy="876300"/>
          </a:xfrm>
        </p:grpSpPr>
        <p:sp>
          <p:nvSpPr>
            <p:cNvPr id="27" name="Google Shape;27;p2"/>
            <p:cNvSpPr/>
            <p:nvPr/>
          </p:nvSpPr>
          <p:spPr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LOGO.gif" id="28" name="Google Shape;28;p2"/>
            <p:cNvPicPr preferRelativeResize="0"/>
            <p:nvPr/>
          </p:nvPicPr>
          <p:blipFill rotWithShape="1">
            <a:blip r:embed="rId2">
              <a:alphaModFix/>
            </a:blip>
            <a:srcRect b="10713" l="0" r="0" t="0"/>
            <a:stretch/>
          </p:blipFill>
          <p:spPr>
            <a:xfrm>
              <a:off x="6502400" y="4152900"/>
              <a:ext cx="2057400" cy="635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Google Shape;29;p2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logo.jpg" id="30" name="Google Shape;3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53200" y="228600"/>
            <a:ext cx="192087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2"/>
          <p:cNvSpPr txBox="1"/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"/>
          <p:cNvSpPr txBox="1"/>
          <p:nvPr>
            <p:ph idx="1" type="body"/>
          </p:nvPr>
        </p:nvSpPr>
        <p:spPr>
          <a:xfrm>
            <a:off x="457200" y="13716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"/>
          <p:cNvSpPr txBox="1"/>
          <p:nvPr>
            <p:ph idx="11" type="ftr"/>
          </p:nvPr>
        </p:nvSpPr>
        <p:spPr>
          <a:xfrm>
            <a:off x="3211606" y="6356349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jpg"/><Relationship Id="rId3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3716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5" name="Google Shape;15;p1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 flipH="1" rot="10800000">
            <a:off x="0" y="6705600"/>
            <a:ext cx="9144000" cy="19811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.gif" id="17" name="Google Shape;17;p1"/>
          <p:cNvPicPr preferRelativeResize="0"/>
          <p:nvPr/>
        </p:nvPicPr>
        <p:blipFill rotWithShape="1">
          <a:blip r:embed="rId1">
            <a:alphaModFix/>
          </a:blip>
          <a:srcRect b="10713" l="0" r="0" t="0"/>
          <a:stretch/>
        </p:blipFill>
        <p:spPr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.gif" id="18" name="Google Shape;18;p1"/>
          <p:cNvPicPr preferRelativeResize="0"/>
          <p:nvPr/>
        </p:nvPicPr>
        <p:blipFill rotWithShape="1">
          <a:blip r:embed="rId1">
            <a:alphaModFix/>
          </a:blip>
          <a:srcRect b="10713" l="0" r="0" t="0"/>
          <a:stretch/>
        </p:blipFill>
        <p:spPr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" name="Google Shape;19;p1"/>
          <p:cNvGrpSpPr/>
          <p:nvPr/>
        </p:nvGrpSpPr>
        <p:grpSpPr>
          <a:xfrm>
            <a:off x="6146800" y="0"/>
            <a:ext cx="2997200" cy="876300"/>
            <a:chOff x="6096000" y="3924300"/>
            <a:chExt cx="2997200" cy="876300"/>
          </a:xfrm>
        </p:grpSpPr>
        <p:sp>
          <p:nvSpPr>
            <p:cNvPr id="20" name="Google Shape;20;p1"/>
            <p:cNvSpPr/>
            <p:nvPr/>
          </p:nvSpPr>
          <p:spPr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LOGO.gif" id="21" name="Google Shape;21;p1"/>
            <p:cNvPicPr preferRelativeResize="0"/>
            <p:nvPr/>
          </p:nvPicPr>
          <p:blipFill rotWithShape="1">
            <a:blip r:embed="rId1">
              <a:alphaModFix/>
            </a:blip>
            <a:srcRect b="10713" l="0" r="0" t="0"/>
            <a:stretch/>
          </p:blipFill>
          <p:spPr>
            <a:xfrm>
              <a:off x="6502400" y="4152900"/>
              <a:ext cx="2057400" cy="635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" name="Google Shape;22;p1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logo.jpg" id="23" name="Google Shape;23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53200" y="228600"/>
            <a:ext cx="1920875" cy="6096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://drive.google.com/file/d/1EoKvvGOAuN9sPDz-pyPmFobDNbVpjzJU/view" TargetMode="External"/><Relationship Id="rId4" Type="http://schemas.openxmlformats.org/officeDocument/2006/relationships/image" Target="../media/image8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://drive.google.com/file/d/1VphOBOU1tSUgFP-qAczW-84S4uG7-WG2/view" TargetMode="External"/><Relationship Id="rId4" Type="http://schemas.openxmlformats.org/officeDocument/2006/relationships/image" Target="../media/image9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drive.google.com/file/d/1dlk0qxNsyj6AbpfsAv1rm0F9A8LngBD1/view" TargetMode="External"/><Relationship Id="rId4" Type="http://schemas.openxmlformats.org/officeDocument/2006/relationships/image" Target="../media/image10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://drive.google.com/file/d/1bIaH6IAiQpboQxv0otInrbkFfP6aVQ0_/view" TargetMode="External"/><Relationship Id="rId4" Type="http://schemas.openxmlformats.org/officeDocument/2006/relationships/image" Target="../media/image1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://drive.google.com/file/d/1_gCG3yNWDDJ9nyvqeTB0cjdhpRjLR2iS/view" TargetMode="External"/><Relationship Id="rId4" Type="http://schemas.openxmlformats.org/officeDocument/2006/relationships/image" Target="../media/image13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://drive.google.com/file/d/1xAUPPcdZ9IrVrr0IHLJB0lDAdm7GFYBn/view" TargetMode="External"/><Relationship Id="rId4" Type="http://schemas.openxmlformats.org/officeDocument/2006/relationships/image" Target="../media/image12.jpg"/><Relationship Id="rId5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://drive.google.com/file/d/12x7vaqdLc1_ChlRtsYeC8suigKza0pLT/view" TargetMode="External"/><Relationship Id="rId4" Type="http://schemas.openxmlformats.org/officeDocument/2006/relationships/image" Target="../media/image14.jpg"/><Relationship Id="rId5" Type="http://schemas.openxmlformats.org/officeDocument/2006/relationships/hyperlink" Target="http://drive.google.com/file/d/1mSQIcHiNGtbLqJ4T3sELqI0OqnpPzdqO/view" TargetMode="External"/><Relationship Id="rId6" Type="http://schemas.openxmlformats.org/officeDocument/2006/relationships/image" Target="../media/image15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22CS016</a:t>
            </a:r>
            <a:endParaRPr/>
          </a:p>
        </p:txBody>
      </p:sp>
      <p:sp>
        <p:nvSpPr>
          <p:cNvPr id="41" name="Google Shape;41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42" name="Google Shape;42;p3"/>
          <p:cNvSpPr txBox="1"/>
          <p:nvPr/>
        </p:nvSpPr>
        <p:spPr>
          <a:xfrm>
            <a:off x="0" y="838200"/>
            <a:ext cx="91440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33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rgbClr val="FF0000"/>
              </a:solidFill>
              <a:latin typeface="Candara"/>
              <a:ea typeface="Candara"/>
              <a:cs typeface="Candara"/>
              <a:sym typeface="Candar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200">
                <a:solidFill>
                  <a:srgbClr val="FF0000"/>
                </a:solidFill>
                <a:latin typeface="Candara"/>
                <a:ea typeface="Candara"/>
                <a:cs typeface="Candara"/>
                <a:sym typeface="Candara"/>
              </a:rPr>
              <a:t>Know Thy Shelf</a:t>
            </a:r>
            <a:endParaRPr b="1" i="0" sz="3200" u="none" cap="none" strike="noStrike">
              <a:solidFill>
                <a:srgbClr val="FF0000"/>
              </a:solidFill>
              <a:latin typeface="Candara"/>
              <a:ea typeface="Candara"/>
              <a:cs typeface="Candara"/>
              <a:sym typeface="Candar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rgbClr val="FF0000"/>
              </a:solidFill>
              <a:latin typeface="Candara"/>
              <a:ea typeface="Candara"/>
              <a:cs typeface="Candara"/>
              <a:sym typeface="Candar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IN" sz="1900">
                <a:latin typeface="Montserrat"/>
                <a:ea typeface="Montserrat"/>
                <a:cs typeface="Montserrat"/>
                <a:sym typeface="Montserrat"/>
              </a:rPr>
              <a:t>Team Name - Know Thy Shelf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IN" sz="1900">
                <a:latin typeface="Montserrat"/>
                <a:ea typeface="Montserrat"/>
                <a:cs typeface="Montserrat"/>
                <a:sym typeface="Montserrat"/>
              </a:rPr>
              <a:t>Team No. - 2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FF0000"/>
              </a:solidFill>
              <a:latin typeface="Candara"/>
              <a:ea typeface="Candara"/>
              <a:cs typeface="Candara"/>
              <a:sym typeface="Candar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1" i="0" sz="4000" u="none" cap="none" strike="noStrike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graphicFrame>
        <p:nvGraphicFramePr>
          <p:cNvPr id="43" name="Google Shape;43;p3"/>
          <p:cNvGraphicFramePr/>
          <p:nvPr/>
        </p:nvGraphicFramePr>
        <p:xfrm>
          <a:off x="2747175" y="4560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{63E63602-5F9C-444A-9A14-2E7EC7E8E457}</a:tableStyleId>
              </a:tblPr>
              <a:tblGrid>
                <a:gridCol w="1824825"/>
                <a:gridCol w="1824825"/>
              </a:tblGrid>
              <a:tr h="325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Team Members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Roll No.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325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Harshpreet Singh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2210990393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325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Harshit Singla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2210990391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325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Harshit Kukreja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2210990387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325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Ishika Gulati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2210990423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44" name="Google Shape;44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90800" y="2914725"/>
            <a:ext cx="485900" cy="48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4"/>
          <p:cNvPicPr preferRelativeResize="0"/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0" y="831226"/>
            <a:ext cx="9143998" cy="5890226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4"/>
          <p:cNvSpPr txBox="1"/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Introduction</a:t>
            </a:r>
            <a:endParaRPr/>
          </a:p>
        </p:txBody>
      </p:sp>
      <p:sp>
        <p:nvSpPr>
          <p:cNvPr id="52" name="Google Shape;52;p4"/>
          <p:cNvSpPr txBox="1"/>
          <p:nvPr>
            <p:ph idx="1" type="body"/>
          </p:nvPr>
        </p:nvSpPr>
        <p:spPr>
          <a:xfrm>
            <a:off x="365950" y="1336025"/>
            <a:ext cx="8229600" cy="495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8300" lvl="0" marL="457200" rtl="0" algn="just">
              <a:spcBef>
                <a:spcPts val="360"/>
              </a:spcBef>
              <a:spcAft>
                <a:spcPts val="0"/>
              </a:spcAft>
              <a:buSzPts val="2200"/>
              <a:buFont typeface="Montserrat SemiBold"/>
              <a:buChar char="❏"/>
            </a:pPr>
            <a:r>
              <a:rPr lang="en-IN" sz="2200">
                <a:latin typeface="Montserrat SemiBold"/>
                <a:ea typeface="Montserrat SemiBold"/>
                <a:cs typeface="Montserrat SemiBold"/>
                <a:sym typeface="Montserrat SemiBold"/>
              </a:rPr>
              <a:t>Our goal is to create a website where people can enjoy lots of interesting stories in different genres. </a:t>
            </a:r>
            <a:endParaRPr sz="2200"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457200" rtl="0" algn="just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368300" lvl="0" marL="457200" rtl="0" algn="just">
              <a:spcBef>
                <a:spcPts val="360"/>
              </a:spcBef>
              <a:spcAft>
                <a:spcPts val="0"/>
              </a:spcAft>
              <a:buSzPts val="2200"/>
              <a:buFont typeface="Montserrat SemiBold"/>
              <a:buChar char="❏"/>
            </a:pPr>
            <a:r>
              <a:rPr lang="en-IN" sz="2200">
                <a:latin typeface="Montserrat SemiBold"/>
                <a:ea typeface="Montserrat SemiBold"/>
                <a:cs typeface="Montserrat SemiBold"/>
                <a:sym typeface="Montserrat SemiBold"/>
              </a:rPr>
              <a:t>They can read these stories as books or listen to them as audio books whenever they want. </a:t>
            </a:r>
            <a:endParaRPr sz="2200"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457200" rtl="0" algn="just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368300" lvl="0" marL="457200" rtl="0" algn="just">
              <a:spcBef>
                <a:spcPts val="360"/>
              </a:spcBef>
              <a:spcAft>
                <a:spcPts val="0"/>
              </a:spcAft>
              <a:buSzPts val="2200"/>
              <a:buFont typeface="Montserrat SemiBold"/>
              <a:buChar char="❏"/>
            </a:pPr>
            <a:r>
              <a:rPr lang="en-IN" sz="2200">
                <a:latin typeface="Montserrat SemiBold"/>
                <a:ea typeface="Montserrat SemiBold"/>
                <a:cs typeface="Montserrat SemiBold"/>
                <a:sym typeface="Montserrat SemiBold"/>
              </a:rPr>
              <a:t>Additionally, we strive to provide a uniquely beautiful user interface design that sets us apart from other book reading websites, enhancing the overall reading experience for our users.</a:t>
            </a:r>
            <a:endParaRPr sz="2200"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457200" rtl="0" algn="just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368300" lvl="0" marL="457200" rtl="0" algn="just">
              <a:spcBef>
                <a:spcPts val="360"/>
              </a:spcBef>
              <a:spcAft>
                <a:spcPts val="0"/>
              </a:spcAft>
              <a:buSzPts val="2200"/>
              <a:buFont typeface="Montserrat SemiBold"/>
              <a:buChar char="❏"/>
            </a:pPr>
            <a:r>
              <a:rPr lang="en-IN" sz="2200">
                <a:latin typeface="Montserrat SemiBold"/>
                <a:ea typeface="Montserrat SemiBold"/>
                <a:cs typeface="Montserrat SemiBold"/>
                <a:sym typeface="Montserrat SemiBold"/>
              </a:rPr>
              <a:t>It's a place for people who love books to share their own creative ideas with others.</a:t>
            </a:r>
            <a:endParaRPr sz="22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3" name="Google Shape;53;p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"/>
          <p:cNvSpPr txBox="1"/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Methodology and Approach Used</a:t>
            </a:r>
            <a:endParaRPr/>
          </a:p>
        </p:txBody>
      </p:sp>
      <p:sp>
        <p:nvSpPr>
          <p:cNvPr id="60" name="Google Shape;60;p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1" name="Google Shape;61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212861"/>
            <a:ext cx="9144000" cy="51434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6" title="MainPAge.mk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76425" y="2453900"/>
            <a:ext cx="4613901" cy="2867175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6"/>
          <p:cNvSpPr txBox="1"/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Landing Page</a:t>
            </a:r>
            <a:endParaRPr/>
          </a:p>
        </p:txBody>
      </p:sp>
      <p:sp>
        <p:nvSpPr>
          <p:cNvPr id="69" name="Google Shape;69;p6"/>
          <p:cNvSpPr txBox="1"/>
          <p:nvPr>
            <p:ph idx="1" type="body"/>
          </p:nvPr>
        </p:nvSpPr>
        <p:spPr>
          <a:xfrm>
            <a:off x="237600" y="2000263"/>
            <a:ext cx="3677100" cy="2927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ts val="1400"/>
              <a:buChar char="•"/>
            </a:pPr>
            <a:r>
              <a:rPr b="1" lang="en-IN" sz="1400">
                <a:latin typeface="Montserrat"/>
                <a:ea typeface="Montserrat"/>
                <a:cs typeface="Montserrat"/>
                <a:sym typeface="Montserrat"/>
              </a:rPr>
              <a:t>Interactive Sliders</a:t>
            </a:r>
            <a:r>
              <a:rPr lang="en-IN" sz="1400">
                <a:latin typeface="Montserrat Medium"/>
                <a:ea typeface="Montserrat Medium"/>
                <a:cs typeface="Montserrat Medium"/>
                <a:sym typeface="Montserrat Medium"/>
              </a:rPr>
              <a:t>: Engage users with dynamic content presentation.</a:t>
            </a:r>
            <a:endParaRPr sz="140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b="1" lang="en-IN" sz="1400">
                <a:latin typeface="Montserrat"/>
                <a:ea typeface="Montserrat"/>
                <a:cs typeface="Montserrat"/>
                <a:sym typeface="Montserrat"/>
              </a:rPr>
              <a:t>Immersive Page Flipping</a:t>
            </a:r>
            <a:r>
              <a:rPr lang="en-IN" sz="1400">
                <a:latin typeface="Montserrat Medium"/>
                <a:ea typeface="Montserrat Medium"/>
                <a:cs typeface="Montserrat Medium"/>
                <a:sym typeface="Montserrat Medium"/>
              </a:rPr>
              <a:t>: Mimic real book flipping for an engaging experience.</a:t>
            </a:r>
            <a:endParaRPr sz="140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b="1" lang="en-IN" sz="1400">
                <a:latin typeface="Montserrat"/>
                <a:ea typeface="Montserrat"/>
                <a:cs typeface="Montserrat"/>
                <a:sym typeface="Montserrat"/>
              </a:rPr>
              <a:t>Smooth Animations</a:t>
            </a:r>
            <a:r>
              <a:rPr lang="en-IN" sz="1400">
                <a:latin typeface="Montserrat Medium"/>
                <a:ea typeface="Montserrat Medium"/>
                <a:cs typeface="Montserrat Medium"/>
                <a:sym typeface="Montserrat Medium"/>
              </a:rPr>
              <a:t>: Enhance user experience with seamless transitions. </a:t>
            </a:r>
            <a:endParaRPr sz="140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b="1" lang="en-IN" sz="1400">
                <a:latin typeface="Montserrat"/>
                <a:ea typeface="Montserrat"/>
                <a:cs typeface="Montserrat"/>
                <a:sym typeface="Montserrat"/>
              </a:rPr>
              <a:t>Responsive Design</a:t>
            </a:r>
            <a:r>
              <a:rPr lang="en-IN" sz="1400">
                <a:latin typeface="Montserrat Medium"/>
                <a:ea typeface="Montserrat Medium"/>
                <a:cs typeface="Montserrat Medium"/>
                <a:sym typeface="Montserrat Medium"/>
              </a:rPr>
              <a:t>: Ensures optimal viewing across devices and screen sizes. </a:t>
            </a:r>
            <a:endParaRPr sz="140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b="1" lang="en-IN" sz="1400">
                <a:latin typeface="Montserrat"/>
                <a:ea typeface="Montserrat"/>
                <a:cs typeface="Montserrat"/>
                <a:sym typeface="Montserrat"/>
              </a:rPr>
              <a:t>Multi-Platform Compatibility</a:t>
            </a:r>
            <a:r>
              <a:rPr lang="en-IN" sz="1400">
                <a:latin typeface="Montserrat Medium"/>
                <a:ea typeface="Montserrat Medium"/>
                <a:cs typeface="Montserrat Medium"/>
                <a:sym typeface="Montserrat Medium"/>
              </a:rPr>
              <a:t>: Works seamlessly on various browsers and devices.</a:t>
            </a:r>
            <a:endParaRPr sz="14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0" name="Google Shape;70;p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7" title="Signupsignin.mk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01664" y="3207950"/>
            <a:ext cx="5740669" cy="31484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7"/>
          <p:cNvSpPr txBox="1"/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Authentication</a:t>
            </a:r>
            <a:endParaRPr/>
          </a:p>
        </p:txBody>
      </p:sp>
      <p:sp>
        <p:nvSpPr>
          <p:cNvPr id="78" name="Google Shape;78;p7"/>
          <p:cNvSpPr txBox="1"/>
          <p:nvPr>
            <p:ph idx="1" type="body"/>
          </p:nvPr>
        </p:nvSpPr>
        <p:spPr>
          <a:xfrm>
            <a:off x="825550" y="1429475"/>
            <a:ext cx="7797600" cy="129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just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Montserrat SemiBold"/>
              <a:buChar char="•"/>
            </a:pPr>
            <a:r>
              <a:rPr lang="en-IN" sz="1800">
                <a:solidFill>
                  <a:srgbClr val="FF33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Sign Up</a:t>
            </a:r>
            <a:r>
              <a:rPr lang="en-IN" sz="1800">
                <a:latin typeface="Montserrat SemiBold"/>
                <a:ea typeface="Montserrat SemiBold"/>
                <a:cs typeface="Montserrat SemiBold"/>
                <a:sym typeface="Montserrat SemiBold"/>
              </a:rPr>
              <a:t> to Unlock Your Dashboard</a:t>
            </a:r>
            <a:endParaRPr sz="1800"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3429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 SemiBold"/>
              <a:buChar char="–"/>
            </a:pPr>
            <a:r>
              <a:rPr lang="en-IN" sz="1800">
                <a:latin typeface="Montserrat SemiBold"/>
                <a:ea typeface="Montserrat SemiBold"/>
                <a:cs typeface="Montserrat SemiBold"/>
                <a:sym typeface="Montserrat SemiBold"/>
              </a:rPr>
              <a:t>Enter your credentials to access personalized features</a:t>
            </a:r>
            <a:endParaRPr sz="1800"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 SemiBold"/>
              <a:buChar char="•"/>
            </a:pPr>
            <a:r>
              <a:rPr lang="en-IN" sz="1800">
                <a:latin typeface="Montserrat SemiBold"/>
                <a:ea typeface="Montserrat SemiBold"/>
                <a:cs typeface="Montserrat SemiBold"/>
                <a:sym typeface="Montserrat SemiBold"/>
              </a:rPr>
              <a:t>Already a Member?</a:t>
            </a:r>
            <a:endParaRPr sz="1800"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3429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 SemiBold"/>
              <a:buChar char="–"/>
            </a:pPr>
            <a:r>
              <a:rPr lang="en-IN" sz="1800"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IN" sz="1800">
                <a:solidFill>
                  <a:srgbClr val="FF33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Sign in </a:t>
            </a:r>
            <a:r>
              <a:rPr lang="en-IN" sz="1800">
                <a:latin typeface="Montserrat SemiBold"/>
                <a:ea typeface="Montserrat SemiBold"/>
                <a:cs typeface="Montserrat SemiBold"/>
                <a:sym typeface="Montserrat SemiBold"/>
              </a:rPr>
              <a:t>to continue your journey</a:t>
            </a:r>
            <a:endParaRPr sz="18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79" name="Google Shape;79;p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8" title="Profilepage.mk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28363" y="3096225"/>
            <a:ext cx="5687274" cy="3091801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8"/>
          <p:cNvSpPr txBox="1"/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User Profile</a:t>
            </a:r>
            <a:endParaRPr/>
          </a:p>
        </p:txBody>
      </p:sp>
      <p:sp>
        <p:nvSpPr>
          <p:cNvPr id="87" name="Google Shape;87;p8"/>
          <p:cNvSpPr txBox="1"/>
          <p:nvPr>
            <p:ph idx="1" type="body"/>
          </p:nvPr>
        </p:nvSpPr>
        <p:spPr>
          <a:xfrm>
            <a:off x="457200" y="1088388"/>
            <a:ext cx="8229600" cy="1464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ts val="1700"/>
              <a:buChar char="•"/>
            </a:pPr>
            <a:r>
              <a:rPr lang="en-IN" sz="1700">
                <a:solidFill>
                  <a:srgbClr val="FF33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Personal details</a:t>
            </a:r>
            <a:r>
              <a:rPr lang="en-IN" sz="1700">
                <a:latin typeface="Montserrat Medium"/>
                <a:ea typeface="Montserrat Medium"/>
                <a:cs typeface="Montserrat Medium"/>
                <a:sym typeface="Montserrat Medium"/>
              </a:rPr>
              <a:t> and preferences to customize your reading experience</a:t>
            </a:r>
            <a:endParaRPr sz="170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Montserrat Medium"/>
              <a:buChar char="•"/>
            </a:pPr>
            <a:r>
              <a:rPr lang="en-IN" sz="1700">
                <a:latin typeface="Montserrat Medium"/>
                <a:ea typeface="Montserrat Medium"/>
                <a:cs typeface="Montserrat Medium"/>
                <a:sym typeface="Montserrat Medium"/>
              </a:rPr>
              <a:t>Insights into your reading habits.</a:t>
            </a:r>
            <a:endParaRPr sz="170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en-IN" sz="1700">
                <a:solidFill>
                  <a:srgbClr val="FF33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Monitor</a:t>
            </a:r>
            <a:r>
              <a:rPr lang="en-IN" sz="1700">
                <a:latin typeface="Montserrat Medium"/>
                <a:ea typeface="Montserrat Medium"/>
                <a:cs typeface="Montserrat Medium"/>
                <a:sym typeface="Montserrat Medium"/>
              </a:rPr>
              <a:t> your reading progress,</a:t>
            </a:r>
            <a:endParaRPr sz="170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en-IN" sz="1700">
                <a:solidFill>
                  <a:srgbClr val="FF33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Celebrate milestones</a:t>
            </a:r>
            <a:r>
              <a:rPr lang="en-IN" sz="1700">
                <a:latin typeface="Montserrat Medium"/>
                <a:ea typeface="Montserrat Medium"/>
                <a:cs typeface="Montserrat Medium"/>
                <a:sym typeface="Montserrat Medium"/>
              </a:rPr>
              <a:t> such as reading streaks, badges earned, and personal achievements.</a:t>
            </a:r>
            <a:endParaRPr sz="17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8" name="Google Shape;88;p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9"/>
          <p:cNvSpPr txBox="1"/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Browse Page</a:t>
            </a:r>
            <a:endParaRPr/>
          </a:p>
        </p:txBody>
      </p:sp>
      <p:sp>
        <p:nvSpPr>
          <p:cNvPr id="95" name="Google Shape;95;p9"/>
          <p:cNvSpPr txBox="1"/>
          <p:nvPr>
            <p:ph idx="1" type="body"/>
          </p:nvPr>
        </p:nvSpPr>
        <p:spPr>
          <a:xfrm>
            <a:off x="75700" y="1921025"/>
            <a:ext cx="4200900" cy="3352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ts val="1300"/>
              <a:buFont typeface="Montserrat SemiBold"/>
              <a:buChar char="•"/>
            </a:pPr>
            <a:r>
              <a:rPr lang="en-IN" sz="1300">
                <a:latin typeface="Montserrat SemiBold"/>
                <a:ea typeface="Montserrat SemiBold"/>
                <a:cs typeface="Montserrat SemiBold"/>
                <a:sym typeface="Montserrat SemiBold"/>
              </a:rPr>
              <a:t>Entirely driven by </a:t>
            </a:r>
            <a:r>
              <a:rPr lang="en-IN" sz="1300">
                <a:solidFill>
                  <a:srgbClr val="FF33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DOM manipulation</a:t>
            </a:r>
            <a:r>
              <a:rPr lang="en-IN" sz="1300">
                <a:latin typeface="Montserrat SemiBold"/>
                <a:ea typeface="Montserrat SemiBold"/>
                <a:cs typeface="Montserrat SemiBold"/>
                <a:sym typeface="Montserrat SemiBold"/>
              </a:rPr>
              <a:t>, our Browse Page offers dynamic content rendering for an immersive browsing experience.</a:t>
            </a:r>
            <a:endParaRPr sz="1300"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Montserrat SemiBold"/>
              <a:buChar char="•"/>
            </a:pPr>
            <a:r>
              <a:rPr lang="en-IN" sz="1300">
                <a:latin typeface="Montserrat SemiBold"/>
                <a:ea typeface="Montserrat SemiBold"/>
                <a:cs typeface="Montserrat SemiBold"/>
                <a:sym typeface="Montserrat SemiBold"/>
              </a:rPr>
              <a:t>Users can search for specific </a:t>
            </a:r>
            <a:r>
              <a:rPr lang="en-IN" sz="1300">
                <a:solidFill>
                  <a:srgbClr val="FF33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titles, authors, or genres</a:t>
            </a:r>
            <a:r>
              <a:rPr lang="en-IN" sz="1300">
                <a:latin typeface="Montserrat SemiBold"/>
                <a:ea typeface="Montserrat SemiBold"/>
                <a:cs typeface="Montserrat SemiBold"/>
                <a:sym typeface="Montserrat SemiBold"/>
              </a:rPr>
              <a:t> with ease.</a:t>
            </a:r>
            <a:endParaRPr sz="1300"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Montserrat SemiBold"/>
              <a:buChar char="•"/>
            </a:pPr>
            <a:r>
              <a:rPr lang="en-IN" sz="1300">
                <a:latin typeface="Montserrat SemiBold"/>
                <a:ea typeface="Montserrat SemiBold"/>
                <a:cs typeface="Montserrat SemiBold"/>
                <a:sym typeface="Montserrat SemiBold"/>
              </a:rPr>
              <a:t>Leveraging the power of the </a:t>
            </a:r>
            <a:r>
              <a:rPr lang="en-IN" sz="1300">
                <a:solidFill>
                  <a:srgbClr val="FF33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Google Books API</a:t>
            </a:r>
            <a:r>
              <a:rPr lang="en-IN" sz="1300">
                <a:latin typeface="Montserrat SemiBold"/>
                <a:ea typeface="Montserrat SemiBold"/>
                <a:cs typeface="Montserrat SemiBold"/>
                <a:sym typeface="Montserrat SemiBold"/>
              </a:rPr>
              <a:t>, users can effortlessly explore and access an extensive collection of books.</a:t>
            </a:r>
            <a:endParaRPr sz="1300"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Montserrat SemiBold"/>
              <a:buChar char="•"/>
            </a:pPr>
            <a:r>
              <a:rPr lang="en-IN" sz="1300">
                <a:latin typeface="Montserrat SemiBold"/>
                <a:ea typeface="Montserrat SemiBold"/>
                <a:cs typeface="Montserrat SemiBold"/>
                <a:sym typeface="Montserrat SemiBold"/>
              </a:rPr>
              <a:t>Customize your browsing experience with various </a:t>
            </a:r>
            <a:r>
              <a:rPr lang="en-IN" sz="1300">
                <a:solidFill>
                  <a:srgbClr val="FF33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filtering</a:t>
            </a:r>
            <a:r>
              <a:rPr lang="en-IN" sz="1300">
                <a:latin typeface="Montserrat SemiBold"/>
                <a:ea typeface="Montserrat SemiBold"/>
                <a:cs typeface="Montserrat SemiBold"/>
                <a:sym typeface="Montserrat SemiBold"/>
              </a:rPr>
              <a:t> options.</a:t>
            </a:r>
            <a:endParaRPr sz="1300"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Montserrat SemiBold"/>
              <a:buChar char="•"/>
            </a:pPr>
            <a:r>
              <a:rPr lang="en-IN" sz="1300">
                <a:latin typeface="Montserrat SemiBold"/>
                <a:ea typeface="Montserrat SemiBold"/>
                <a:cs typeface="Montserrat SemiBold"/>
                <a:sym typeface="Montserrat SemiBold"/>
              </a:rPr>
              <a:t>Instant access to </a:t>
            </a:r>
            <a:r>
              <a:rPr lang="en-IN" sz="1300">
                <a:solidFill>
                  <a:srgbClr val="FF33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book details</a:t>
            </a:r>
            <a:r>
              <a:rPr lang="en-IN" sz="1300">
                <a:latin typeface="Montserrat SemiBold"/>
                <a:ea typeface="Montserrat SemiBold"/>
                <a:cs typeface="Montserrat SemiBold"/>
                <a:sym typeface="Montserrat SemiBold"/>
              </a:rPr>
              <a:t> including synopsis, author information, and ratings.</a:t>
            </a:r>
            <a:endParaRPr sz="13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96" name="Google Shape;96;p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97" name="Google Shape;97;p9"/>
          <p:cNvSpPr txBox="1"/>
          <p:nvPr/>
        </p:nvSpPr>
        <p:spPr>
          <a:xfrm>
            <a:off x="2923350" y="5283300"/>
            <a:ext cx="2559600" cy="50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9"/>
          <p:cNvSpPr txBox="1"/>
          <p:nvPr/>
        </p:nvSpPr>
        <p:spPr>
          <a:xfrm>
            <a:off x="5482900" y="4487475"/>
            <a:ext cx="3102900" cy="5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9"/>
          <p:cNvSpPr txBox="1"/>
          <p:nvPr/>
        </p:nvSpPr>
        <p:spPr>
          <a:xfrm>
            <a:off x="1634725" y="3020450"/>
            <a:ext cx="2040600" cy="50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" name="Google Shape;100;p9" title="Browse.mk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73750" y="2440262"/>
            <a:ext cx="4268176" cy="23140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10" title="LibraryTEMP.mk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07713" y="3407275"/>
            <a:ext cx="4528576" cy="2483224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0"/>
          <p:cNvSpPr txBox="1"/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Library</a:t>
            </a:r>
            <a:endParaRPr/>
          </a:p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09" name="Google Shape;109;p10"/>
          <p:cNvSpPr txBox="1"/>
          <p:nvPr/>
        </p:nvSpPr>
        <p:spPr>
          <a:xfrm>
            <a:off x="593225" y="1316625"/>
            <a:ext cx="7864500" cy="16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 SemiBold"/>
              <a:buChar char="●"/>
            </a:pPr>
            <a:r>
              <a:rPr lang="en-I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Explore diverse topics, genres, and perspectives right at your fingertips.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 SemiBold"/>
              <a:buChar char="●"/>
            </a:pPr>
            <a:r>
              <a:rPr lang="en-I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Seamlessly connected to the vast resources of </a:t>
            </a:r>
            <a:r>
              <a:rPr lang="en-IN" sz="1600">
                <a:solidFill>
                  <a:srgbClr val="FF33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Google's database</a:t>
            </a:r>
            <a:r>
              <a:rPr lang="en-I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. 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 SemiBold"/>
              <a:buChar char="●"/>
            </a:pPr>
            <a:r>
              <a:rPr lang="en-I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Instant access to information, summaries, and related content.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 SemiBold"/>
              <a:buChar char="●"/>
            </a:pPr>
            <a:r>
              <a:rPr lang="en-I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Dive into our library of a thousand books and embark on a limitless quest for knowledge.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1" title="Dashboard.mk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63475" y="1077075"/>
            <a:ext cx="4166851" cy="1995725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1"/>
          <p:cNvSpPr txBox="1"/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Dashboard</a:t>
            </a:r>
            <a:endParaRPr/>
          </a:p>
        </p:txBody>
      </p:sp>
      <p:sp>
        <p:nvSpPr>
          <p:cNvPr id="117" name="Google Shape;117;p11"/>
          <p:cNvSpPr txBox="1"/>
          <p:nvPr>
            <p:ph idx="1" type="body"/>
          </p:nvPr>
        </p:nvSpPr>
        <p:spPr>
          <a:xfrm>
            <a:off x="2047350" y="3843050"/>
            <a:ext cx="5049300" cy="2743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ts val="1700"/>
              <a:buFont typeface="Montserrat Medium"/>
              <a:buChar char="•"/>
            </a:pPr>
            <a:r>
              <a:rPr lang="en-IN" sz="1700">
                <a:latin typeface="Montserrat Medium"/>
                <a:ea typeface="Montserrat Medium"/>
                <a:cs typeface="Montserrat Medium"/>
                <a:sym typeface="Montserrat Medium"/>
              </a:rPr>
              <a:t>Instant updates about </a:t>
            </a:r>
            <a:r>
              <a:rPr lang="en-IN" sz="1700">
                <a:solidFill>
                  <a:srgbClr val="FF33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newly added</a:t>
            </a:r>
            <a:r>
              <a:rPr lang="en-IN" sz="1700">
                <a:latin typeface="Montserrat Medium"/>
                <a:ea typeface="Montserrat Medium"/>
                <a:cs typeface="Montserrat Medium"/>
                <a:sym typeface="Montserrat Medium"/>
              </a:rPr>
              <a:t> books matching your preferences.</a:t>
            </a:r>
            <a:endParaRPr sz="170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Montserrat Medium"/>
              <a:buChar char="•"/>
            </a:pPr>
            <a:r>
              <a:rPr lang="en-IN" sz="1700">
                <a:latin typeface="Montserrat Medium"/>
                <a:ea typeface="Montserrat Medium"/>
                <a:cs typeface="Montserrat Medium"/>
                <a:sym typeface="Montserrat Medium"/>
              </a:rPr>
              <a:t>Track your </a:t>
            </a:r>
            <a:r>
              <a:rPr lang="en-IN" sz="1700">
                <a:solidFill>
                  <a:srgbClr val="FF33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reading progress</a:t>
            </a:r>
            <a:r>
              <a:rPr lang="en-IN" sz="1700">
                <a:latin typeface="Montserrat Medium"/>
                <a:ea typeface="Montserrat Medium"/>
                <a:cs typeface="Montserrat Medium"/>
                <a:sym typeface="Montserrat Medium"/>
              </a:rPr>
              <a:t>, including pages read, books completed.</a:t>
            </a:r>
            <a:endParaRPr sz="170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Montserrat Medium"/>
              <a:buChar char="•"/>
            </a:pPr>
            <a:r>
              <a:rPr lang="en-IN" sz="1700">
                <a:latin typeface="Montserrat Medium"/>
                <a:ea typeface="Montserrat Medium"/>
                <a:cs typeface="Montserrat Medium"/>
                <a:sym typeface="Montserrat Medium"/>
              </a:rPr>
              <a:t>Monitor and celebrate consecutive days of reading using </a:t>
            </a:r>
            <a:r>
              <a:rPr lang="en-IN" sz="1700">
                <a:solidFill>
                  <a:srgbClr val="FF33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reading streaks</a:t>
            </a:r>
            <a:r>
              <a:rPr lang="en-IN" sz="1700">
                <a:latin typeface="Montserrat Medium"/>
                <a:ea typeface="Montserrat Medium"/>
                <a:cs typeface="Montserrat Medium"/>
                <a:sym typeface="Montserrat Medium"/>
              </a:rPr>
              <a:t>.</a:t>
            </a:r>
            <a:endParaRPr sz="170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Montserrat Medium"/>
              <a:buChar char="•"/>
            </a:pPr>
            <a:r>
              <a:rPr lang="en-IN" sz="1700">
                <a:latin typeface="Montserrat Medium"/>
                <a:ea typeface="Montserrat Medium"/>
                <a:cs typeface="Montserrat Medium"/>
                <a:sym typeface="Montserrat Medium"/>
              </a:rPr>
              <a:t>Quick access to books you're currently reading,</a:t>
            </a:r>
            <a:endParaRPr sz="170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18" name="Google Shape;118;p1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119" name="Google Shape;119;p11"/>
          <p:cNvPicPr preferRelativeResize="0"/>
          <p:nvPr/>
        </p:nvPicPr>
        <p:blipFill rotWithShape="1">
          <a:blip r:embed="rId5">
            <a:alphaModFix/>
          </a:blip>
          <a:srcRect b="-2490" l="11640" r="12670" t="18920"/>
          <a:stretch/>
        </p:blipFill>
        <p:spPr>
          <a:xfrm>
            <a:off x="2524650" y="1077075"/>
            <a:ext cx="4244501" cy="263577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1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12" title="Premium.mk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60650" y="3986675"/>
            <a:ext cx="4267200" cy="2400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2"/>
          <p:cNvSpPr txBox="1"/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Premium &amp; PDF Viewer</a:t>
            </a:r>
            <a:endParaRPr/>
          </a:p>
        </p:txBody>
      </p:sp>
      <p:sp>
        <p:nvSpPr>
          <p:cNvPr id="128" name="Google Shape;128;p12"/>
          <p:cNvSpPr txBox="1"/>
          <p:nvPr>
            <p:ph idx="1" type="body"/>
          </p:nvPr>
        </p:nvSpPr>
        <p:spPr>
          <a:xfrm>
            <a:off x="674100" y="4724505"/>
            <a:ext cx="3709800" cy="1160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IN" sz="1800">
                <a:latin typeface="Montserrat"/>
                <a:ea typeface="Montserrat"/>
                <a:cs typeface="Montserrat"/>
                <a:sym typeface="Montserrat"/>
              </a:rPr>
              <a:t>Elevate your browsing experience with our </a:t>
            </a:r>
            <a:r>
              <a:rPr b="1" lang="en-IN" sz="1800">
                <a:solidFill>
                  <a:srgbClr val="FF3300"/>
                </a:solidFill>
                <a:latin typeface="Montserrat"/>
                <a:ea typeface="Montserrat"/>
                <a:cs typeface="Montserrat"/>
                <a:sym typeface="Montserrat"/>
              </a:rPr>
              <a:t>premium features</a:t>
            </a:r>
            <a:endParaRPr b="1" sz="1800">
              <a:solidFill>
                <a:srgbClr val="FF33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130" name="Google Shape;130;p12" title="BookReadingPage.mkv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6250" y="990600"/>
            <a:ext cx="3997651" cy="262817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2"/>
          <p:cNvSpPr txBox="1"/>
          <p:nvPr>
            <p:ph idx="1" type="body"/>
          </p:nvPr>
        </p:nvSpPr>
        <p:spPr>
          <a:xfrm>
            <a:off x="4908075" y="1724638"/>
            <a:ext cx="3709800" cy="1160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IN" sz="1800">
                <a:latin typeface="Montserrat"/>
                <a:ea typeface="Montserrat"/>
                <a:cs typeface="Montserrat"/>
                <a:sym typeface="Montserrat"/>
              </a:rPr>
              <a:t>Seamlessly </a:t>
            </a:r>
            <a:r>
              <a:rPr b="1" lang="en-IN" sz="1800">
                <a:solidFill>
                  <a:srgbClr val="FF3300"/>
                </a:solidFill>
                <a:latin typeface="Montserrat"/>
                <a:ea typeface="Montserrat"/>
                <a:cs typeface="Montserrat"/>
                <a:sym typeface="Montserrat"/>
              </a:rPr>
              <a:t>view and navigate PDF </a:t>
            </a:r>
            <a:r>
              <a:rPr b="1" lang="en-IN" sz="1800">
                <a:latin typeface="Montserrat"/>
                <a:ea typeface="Montserrat"/>
                <a:cs typeface="Montserrat"/>
                <a:sym typeface="Montserrat"/>
              </a:rPr>
              <a:t>documents directly on our platform.</a:t>
            </a:r>
            <a:endParaRPr b="1" sz="18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3"/>
          <p:cNvSpPr txBox="1"/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Future Scope</a:t>
            </a:r>
            <a:endParaRPr/>
          </a:p>
        </p:txBody>
      </p:sp>
      <p:sp>
        <p:nvSpPr>
          <p:cNvPr id="138" name="Google Shape;138;p13"/>
          <p:cNvSpPr txBox="1"/>
          <p:nvPr>
            <p:ph idx="1" type="body"/>
          </p:nvPr>
        </p:nvSpPr>
        <p:spPr>
          <a:xfrm>
            <a:off x="372700" y="1972175"/>
            <a:ext cx="8495700" cy="3348300"/>
          </a:xfrm>
          <a:prstGeom prst="rect">
            <a:avLst/>
          </a:prstGeom>
          <a:ln>
            <a:noFill/>
          </a:ln>
          <a:effectLst>
            <a:outerShdw blurRad="57150" rotWithShape="0" algn="bl" dir="5400000" dist="38100">
              <a:srgbClr val="000000">
                <a:alpha val="55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just">
              <a:lnSpc>
                <a:spcPct val="135000"/>
              </a:lnSpc>
              <a:spcBef>
                <a:spcPts val="36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Montserrat SemiBold"/>
              <a:buChar char="❏"/>
            </a:pPr>
            <a:r>
              <a:rPr lang="en-IN" sz="3400">
                <a:solidFill>
                  <a:srgbClr val="CC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Write Your Own Book</a:t>
            </a:r>
            <a:endParaRPr sz="3400">
              <a:solidFill>
                <a:srgbClr val="CC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355600" lvl="0" marL="457200" rtl="0" algn="just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Montserrat SemiBold"/>
              <a:buChar char="❏"/>
            </a:pPr>
            <a:r>
              <a:rPr lang="en-IN" sz="3400">
                <a:solidFill>
                  <a:srgbClr val="CC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Audio Book Integration</a:t>
            </a:r>
            <a:endParaRPr sz="3400">
              <a:solidFill>
                <a:srgbClr val="CC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355600" lvl="0" marL="457200" rtl="0" algn="just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Montserrat SemiBold"/>
              <a:buChar char="❏"/>
            </a:pPr>
            <a:r>
              <a:rPr lang="en-IN" sz="3400">
                <a:solidFill>
                  <a:srgbClr val="CC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Translation in Multiple Languages</a:t>
            </a:r>
            <a:endParaRPr sz="3400">
              <a:solidFill>
                <a:srgbClr val="CC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355600" lvl="0" marL="457200" rtl="0" algn="just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Montserrat SemiBold"/>
              <a:buChar char="❏"/>
            </a:pPr>
            <a:r>
              <a:rPr lang="en-IN" sz="3400">
                <a:solidFill>
                  <a:srgbClr val="CC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Daily Streak Rewards</a:t>
            </a:r>
            <a:endParaRPr sz="3400">
              <a:solidFill>
                <a:srgbClr val="CC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355600" lvl="0" marL="457200" rtl="0" algn="just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Montserrat SemiBold"/>
              <a:buChar char="❏"/>
            </a:pPr>
            <a:r>
              <a:rPr lang="en-IN" sz="3400">
                <a:solidFill>
                  <a:srgbClr val="CC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Track Your Analytics</a:t>
            </a:r>
            <a:endParaRPr sz="3000">
              <a:solidFill>
                <a:srgbClr val="CC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39" name="Google Shape;139;p1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